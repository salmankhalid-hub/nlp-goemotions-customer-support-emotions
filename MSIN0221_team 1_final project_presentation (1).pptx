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31750">
              <a:solidFill>
                <a:srgbClr val="0A1F44"/>
              </a:solidFill>
            </a:ln>
          </c:spPr>
          <c:marker>
            <c:symbol val="circle"/>
            <c:size val="10"/>
            <c:spPr>
              <a:solidFill>
                <a:srgbClr val="0A1F44"/>
              </a:solidFill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0.55800000000000005</c:v>
                </c:pt>
                <c:pt idx="1">
                  <c:v>0.58699999999999997</c:v>
                </c:pt>
                <c:pt idx="2">
                  <c:v>0.59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3D-9D4B-93EE-8749F4242F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ln w="31750">
              <a:solidFill>
                <a:srgbClr val="2E86DE"/>
              </a:solidFill>
            </a:ln>
          </c:spPr>
          <c:marker>
            <c:symbol val="circle"/>
            <c:size val="10"/>
            <c:spPr>
              <a:solidFill>
                <a:srgbClr val="2E86DE"/>
              </a:solidFill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0.36299999999999999</c:v>
                </c:pt>
                <c:pt idx="1">
                  <c:v>0.436</c:v>
                </c:pt>
                <c:pt idx="2">
                  <c:v>0.44500000000000001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3D-9D4B-93EE-8749F4242F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Weighted F1</c:v>
                </c:pt>
              </c:strCache>
            </c:strRef>
          </c:tx>
          <c:spPr>
            <a:ln w="31750">
              <a:solidFill>
                <a:srgbClr val="1E5CA8"/>
              </a:solidFill>
            </a:ln>
          </c:spPr>
          <c:marker>
            <c:symbol val="circle"/>
            <c:size val="10"/>
            <c:spPr>
              <a:solidFill>
                <a:srgbClr val="1E5CA8"/>
              </a:solidFill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0.52</c:v>
                </c:pt>
                <c:pt idx="1">
                  <c:v>0.56699999999999995</c:v>
                </c:pt>
                <c:pt idx="2">
                  <c:v>0.57099999999999995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3D-9D4B-93EE-8749F4242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A5A75"/>
                </a:solidFill>
              </a:defRPr>
            </a:pPr>
            <a:endParaRPr lang="en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65000000000000013"/>
          <c:min val="0.35000000000000003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>
              <a:solidFill>
                <a:srgbClr val="143C6E"/>
              </a:solidFill>
            </a:ln>
          </c:spPr>
          <c:marker>
            <c:symbol val="circle"/>
            <c:size val="10"/>
            <c:spPr>
              <a:solidFill>
                <a:srgbClr val="143C6E"/>
              </a:solidFill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3.4809999999999999</c:v>
                </c:pt>
                <c:pt idx="1">
                  <c:v>2.8</c:v>
                </c:pt>
                <c:pt idx="2">
                  <c:v>2.4119999999999999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F-2E4F-BBE0-1820D94A28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>
              <a:solidFill>
                <a:srgbClr val="5BA8F0"/>
              </a:solidFill>
            </a:ln>
          </c:spPr>
          <c:marker>
            <c:symbol val="circle"/>
            <c:size val="10"/>
            <c:spPr>
              <a:solidFill>
                <a:srgbClr val="5BA8F0"/>
              </a:solidFill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3.12</c:v>
                </c:pt>
                <c:pt idx="1">
                  <c:v>2.8050000000000002</c:v>
                </c:pt>
                <c:pt idx="2">
                  <c:v>2.7749999999999999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F-2E4F-BBE0-1820D94A28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A5A75"/>
                </a:solidFill>
              </a:defRPr>
            </a:pPr>
            <a:endParaRPr lang="en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.6"/>
          <c:min val="2.2000000000000002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BERT F1</c:v>
                </c:pt>
              </c:strCache>
            </c:strRef>
          </c:tx>
          <c:spPr>
            <a:solidFill>
              <a:srgbClr val="0A1F44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gratitude</c:v>
                </c:pt>
                <c:pt idx="1">
                  <c:v>amusement</c:v>
                </c:pt>
                <c:pt idx="2">
                  <c:v>love</c:v>
                </c:pt>
                <c:pt idx="3">
                  <c:v>admiration</c:v>
                </c:pt>
                <c:pt idx="4">
                  <c:v>approval</c:v>
                </c:pt>
                <c:pt idx="5">
                  <c:v>joy</c:v>
                </c:pt>
                <c:pt idx="6">
                  <c:v>sadness</c:v>
                </c:pt>
                <c:pt idx="7">
                  <c:v>curiosity</c:v>
                </c:pt>
                <c:pt idx="8">
                  <c:v>anger</c:v>
                </c:pt>
                <c:pt idx="9">
                  <c:v>grief</c:v>
                </c:pt>
                <c:pt idx="10">
                  <c:v>relief</c:v>
                </c:pt>
                <c:pt idx="11">
                  <c:v>pride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0.85</c:v>
                </c:pt>
                <c:pt idx="1">
                  <c:v>0.81</c:v>
                </c:pt>
                <c:pt idx="2">
                  <c:v>0.73</c:v>
                </c:pt>
                <c:pt idx="3">
                  <c:v>0.69</c:v>
                </c:pt>
                <c:pt idx="4">
                  <c:v>0.66</c:v>
                </c:pt>
                <c:pt idx="5">
                  <c:v>0.64</c:v>
                </c:pt>
                <c:pt idx="6">
                  <c:v>0.52</c:v>
                </c:pt>
                <c:pt idx="7">
                  <c:v>0.49</c:v>
                </c:pt>
                <c:pt idx="8">
                  <c:v>0.44</c:v>
                </c:pt>
                <c:pt idx="9">
                  <c:v>0.02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4CC-8141-82D8-0E30F09BB5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TF-IDF F1</c:v>
                </c:pt>
              </c:strCache>
            </c:strRef>
          </c:tx>
          <c:spPr>
            <a:solidFill>
              <a:srgbClr val="9ECBF7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gratitude</c:v>
                </c:pt>
                <c:pt idx="1">
                  <c:v>amusement</c:v>
                </c:pt>
                <c:pt idx="2">
                  <c:v>love</c:v>
                </c:pt>
                <c:pt idx="3">
                  <c:v>admiration</c:v>
                </c:pt>
                <c:pt idx="4">
                  <c:v>approval</c:v>
                </c:pt>
                <c:pt idx="5">
                  <c:v>joy</c:v>
                </c:pt>
                <c:pt idx="6">
                  <c:v>sadness</c:v>
                </c:pt>
                <c:pt idx="7">
                  <c:v>curiosity</c:v>
                </c:pt>
                <c:pt idx="8">
                  <c:v>anger</c:v>
                </c:pt>
                <c:pt idx="9">
                  <c:v>grief</c:v>
                </c:pt>
                <c:pt idx="10">
                  <c:v>relief</c:v>
                </c:pt>
                <c:pt idx="11">
                  <c:v>pride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0.78</c:v>
                </c:pt>
                <c:pt idx="1">
                  <c:v>0.65</c:v>
                </c:pt>
                <c:pt idx="2">
                  <c:v>0.55000000000000004</c:v>
                </c:pt>
                <c:pt idx="3">
                  <c:v>0.52</c:v>
                </c:pt>
                <c:pt idx="4">
                  <c:v>0.48</c:v>
                </c:pt>
                <c:pt idx="5">
                  <c:v>0.5</c:v>
                </c:pt>
                <c:pt idx="6">
                  <c:v>0.4</c:v>
                </c:pt>
                <c:pt idx="7">
                  <c:v>0.35</c:v>
                </c:pt>
                <c:pt idx="8">
                  <c:v>0.33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4CC-8141-82D8-0E30F09BB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A1A2E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1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GoEmotions (In-Domain)</c:v>
                </c:pt>
              </c:strCache>
            </c:strRef>
          </c:tx>
          <c:spPr>
            <a:solidFill>
              <a:srgbClr val="0A1F44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BERT</c:v>
                </c:pt>
                <c:pt idx="1">
                  <c:v>TF-IDF Logistic Regression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0.56599999999999995</c:v>
                </c:pt>
                <c:pt idx="1">
                  <c:v>0.44600000000000001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0DD-DD45-B4F5-3648ADDF2C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Twitter (Cross-Domain)</c:v>
                </c:pt>
              </c:strCache>
            </c:strRef>
          </c:tx>
          <c:spPr>
            <a:solidFill>
              <a:srgbClr val="5BA8F0"/>
            </a:solidFill>
          </c:spPr>
          <c:invertIfNegative val="1"/>
          <c:cat>
            <c:strRef>
              <c:f>Sheet1!$A$2:$A$3</c:f>
              <c:strCache>
                <c:ptCount val="2"/>
                <c:pt idx="0">
                  <c:v>BERT</c:v>
                </c:pt>
                <c:pt idx="1">
                  <c:v>TF-IDF Logistic Regression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0.312</c:v>
                </c:pt>
                <c:pt idx="1">
                  <c:v>0.186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0DD-DD45-B4F5-3648ADDF2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0A1F44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0000000000000009"/>
          <c:min val="0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GoEmotions (In-Domain)</c:v>
                </c:pt>
              </c:strCache>
            </c:strRef>
          </c:tx>
          <c:spPr>
            <a:solidFill>
              <a:srgbClr val="0A1F44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amusement</c:v>
                </c:pt>
                <c:pt idx="1">
                  <c:v>love</c:v>
                </c:pt>
                <c:pt idx="2">
                  <c:v>admiration</c:v>
                </c:pt>
                <c:pt idx="3">
                  <c:v>sadness</c:v>
                </c:pt>
                <c:pt idx="4">
                  <c:v>anger</c:v>
                </c:pt>
                <c:pt idx="5">
                  <c:v>disapproval</c:v>
                </c:pt>
                <c:pt idx="6">
                  <c:v>gratitude</c:v>
                </c:pt>
                <c:pt idx="7">
                  <c:v>confusion</c:v>
                </c:pt>
                <c:pt idx="8">
                  <c:v>disappointment</c:v>
                </c:pt>
                <c:pt idx="9">
                  <c:v>neutral</c:v>
                </c:pt>
                <c:pt idx="10">
                  <c:v>curiosity</c:v>
                </c:pt>
                <c:pt idx="11">
                  <c:v>annoyance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0.81</c:v>
                </c:pt>
                <c:pt idx="1">
                  <c:v>0.73</c:v>
                </c:pt>
                <c:pt idx="2">
                  <c:v>0.69</c:v>
                </c:pt>
                <c:pt idx="3">
                  <c:v>0.52</c:v>
                </c:pt>
                <c:pt idx="4">
                  <c:v>0.44</c:v>
                </c:pt>
                <c:pt idx="5">
                  <c:v>0.42</c:v>
                </c:pt>
                <c:pt idx="6">
                  <c:v>0.85</c:v>
                </c:pt>
                <c:pt idx="7">
                  <c:v>0.49</c:v>
                </c:pt>
                <c:pt idx="8">
                  <c:v>0.4</c:v>
                </c:pt>
                <c:pt idx="9">
                  <c:v>0.66</c:v>
                </c:pt>
                <c:pt idx="10">
                  <c:v>0.49</c:v>
                </c:pt>
                <c:pt idx="11">
                  <c:v>0.52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5A4-534F-8A6C-BDFD640613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Twitter (Cross-Domain)</c:v>
                </c:pt>
              </c:strCache>
            </c:strRef>
          </c:tx>
          <c:spPr>
            <a:solidFill>
              <a:srgbClr val="9ECBF7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amusement</c:v>
                </c:pt>
                <c:pt idx="1">
                  <c:v>love</c:v>
                </c:pt>
                <c:pt idx="2">
                  <c:v>admiration</c:v>
                </c:pt>
                <c:pt idx="3">
                  <c:v>sadness</c:v>
                </c:pt>
                <c:pt idx="4">
                  <c:v>anger</c:v>
                </c:pt>
                <c:pt idx="5">
                  <c:v>disapproval</c:v>
                </c:pt>
                <c:pt idx="6">
                  <c:v>gratitude</c:v>
                </c:pt>
                <c:pt idx="7">
                  <c:v>confusion</c:v>
                </c:pt>
                <c:pt idx="8">
                  <c:v>disappointment</c:v>
                </c:pt>
                <c:pt idx="9">
                  <c:v>neutral</c:v>
                </c:pt>
                <c:pt idx="10">
                  <c:v>curiosity</c:v>
                </c:pt>
                <c:pt idx="11">
                  <c:v>annoyance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0.15</c:v>
                </c:pt>
                <c:pt idx="5">
                  <c:v>0.06</c:v>
                </c:pt>
                <c:pt idx="6">
                  <c:v>0.57999999999999996</c:v>
                </c:pt>
                <c:pt idx="7">
                  <c:v>0.04</c:v>
                </c:pt>
                <c:pt idx="8">
                  <c:v>0.03</c:v>
                </c:pt>
                <c:pt idx="9">
                  <c:v>0.5</c:v>
                </c:pt>
                <c:pt idx="10">
                  <c:v>0.12</c:v>
                </c:pt>
                <c:pt idx="11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5A4-534F-8A6C-BDFD64061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A1A2E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 (n=500)</c:v>
                </c:pt>
              </c:strCache>
            </c:strRef>
          </c:tx>
          <c:spPr>
            <a:solidFill>
              <a:srgbClr val="1E5CA8"/>
            </a:solidFill>
          </c:spPr>
          <c:invertIfNegative val="1"/>
          <c:cat>
            <c:strRef>
              <c:f>Sheet1!$A$2:$A$20</c:f>
              <c:strCache>
                <c:ptCount val="19"/>
                <c:pt idx="0">
                  <c:v>annoyance</c:v>
                </c:pt>
                <c:pt idx="1">
                  <c:v>neutral</c:v>
                </c:pt>
                <c:pt idx="2">
                  <c:v>anger</c:v>
                </c:pt>
                <c:pt idx="3">
                  <c:v>curiosity</c:v>
                </c:pt>
                <c:pt idx="4">
                  <c:v>gratitude</c:v>
                </c:pt>
                <c:pt idx="5">
                  <c:v>confusion</c:v>
                </c:pt>
                <c:pt idx="6">
                  <c:v>disappointment</c:v>
                </c:pt>
                <c:pt idx="7">
                  <c:v>admiration</c:v>
                </c:pt>
                <c:pt idx="8">
                  <c:v>amusement</c:v>
                </c:pt>
                <c:pt idx="9">
                  <c:v>sadness</c:v>
                </c:pt>
                <c:pt idx="10">
                  <c:v>love</c:v>
                </c:pt>
                <c:pt idx="11">
                  <c:v>approval</c:v>
                </c:pt>
                <c:pt idx="12">
                  <c:v>joy</c:v>
                </c:pt>
                <c:pt idx="13">
                  <c:v>excitement</c:v>
                </c:pt>
                <c:pt idx="14">
                  <c:v>disapproval</c:v>
                </c:pt>
                <c:pt idx="15">
                  <c:v>fear</c:v>
                </c:pt>
                <c:pt idx="16">
                  <c:v>optimism</c:v>
                </c:pt>
                <c:pt idx="17">
                  <c:v>caring</c:v>
                </c:pt>
                <c:pt idx="18">
                  <c:v>surprise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152</c:v>
                </c:pt>
                <c:pt idx="1">
                  <c:v>108</c:v>
                </c:pt>
                <c:pt idx="2">
                  <c:v>50</c:v>
                </c:pt>
                <c:pt idx="3">
                  <c:v>28</c:v>
                </c:pt>
                <c:pt idx="4">
                  <c:v>28</c:v>
                </c:pt>
                <c:pt idx="5">
                  <c:v>15</c:v>
                </c:pt>
                <c:pt idx="6">
                  <c:v>12</c:v>
                </c:pt>
                <c:pt idx="7">
                  <c:v>12</c:v>
                </c:pt>
                <c:pt idx="8">
                  <c:v>10</c:v>
                </c:pt>
                <c:pt idx="9">
                  <c:v>10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6</c:v>
                </c:pt>
                <c:pt idx="14">
                  <c:v>6</c:v>
                </c:pt>
                <c:pt idx="15">
                  <c:v>5</c:v>
                </c:pt>
                <c:pt idx="16">
                  <c:v>5</c:v>
                </c:pt>
                <c:pt idx="17">
                  <c:v>4</c:v>
                </c:pt>
                <c:pt idx="18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E9-F646-9E04-E469C5A1B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A1A2E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5CA8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annoyance → relief</c:v>
                </c:pt>
                <c:pt idx="1">
                  <c:v>annoyance → curiosity</c:v>
                </c:pt>
                <c:pt idx="2">
                  <c:v>anger → relief</c:v>
                </c:pt>
                <c:pt idx="3">
                  <c:v>anger → annoyance</c:v>
                </c:pt>
                <c:pt idx="4">
                  <c:v>confusion → relief</c:v>
                </c:pt>
                <c:pt idx="5">
                  <c:v>disappointment → relief</c:v>
                </c:pt>
                <c:pt idx="6">
                  <c:v>curiosity → relief</c:v>
                </c:pt>
                <c:pt idx="7">
                  <c:v>disapproval → relief</c:v>
                </c:pt>
                <c:pt idx="8">
                  <c:v>relief → gratitude</c:v>
                </c:pt>
                <c:pt idx="9">
                  <c:v>amusement → relief</c:v>
                </c:pt>
                <c:pt idx="10">
                  <c:v>confusion → curiosity</c:v>
                </c:pt>
                <c:pt idx="11">
                  <c:v>annoyance → admiration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</c:v>
                </c:pt>
                <c:pt idx="1">
                  <c:v>24</c:v>
                </c:pt>
                <c:pt idx="2">
                  <c:v>17</c:v>
                </c:pt>
                <c:pt idx="3">
                  <c:v>14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8</c:v>
                </c:pt>
                <c:pt idx="8">
                  <c:v>6</c:v>
                </c:pt>
                <c:pt idx="9">
                  <c:v>6</c:v>
                </c:pt>
                <c:pt idx="10">
                  <c:v>5</c:v>
                </c:pt>
                <c:pt idx="1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768-6243-BFB5-B3FAA8796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A1A2E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A1F4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Positive</c:v>
                </c:pt>
                <c:pt idx="2">
                  <c:v>Ambiguous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0.56999999999999995</c:v>
                </c:pt>
                <c:pt idx="2">
                  <c:v>0.43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31-6044-ADFF-F194AD4E82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5BA8F0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Positive</c:v>
                </c:pt>
                <c:pt idx="2">
                  <c:v>Ambiguous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0.24</c:v>
                </c:pt>
                <c:pt idx="1">
                  <c:v>0.64</c:v>
                </c:pt>
                <c:pt idx="2">
                  <c:v>0.86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F31-6044-ADFF-F194AD4E82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E5CA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Positive</c:v>
                </c:pt>
                <c:pt idx="2">
                  <c:v>Ambiguous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0.38</c:v>
                </c:pt>
                <c:pt idx="1">
                  <c:v>0.6</c:v>
                </c:pt>
                <c:pt idx="2">
                  <c:v>0.56999999999999995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F31-6044-ADFF-F194AD4E8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0A1F44"/>
                </a:solidFill>
              </a:defRPr>
            </a:pPr>
            <a:endParaRPr lang="en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0E4F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A5A75"/>
                </a:solidFill>
              </a:defRPr>
            </a:pPr>
            <a:endParaRPr lang="en-IT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A5A75"/>
              </a:solidFill>
            </a:defRPr>
          </a:pPr>
          <a:endParaRPr lang="en-IT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54471"/>
            <a:ext cx="103327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How Reliably Can an NLP Model</a:t>
            </a:r>
            <a:br>
              <a:rPr dirty="0"/>
            </a:br>
            <a:r>
              <a:rPr dirty="0"/>
              <a:t>Trained on Social Media Emotions</a:t>
            </a:r>
            <a:br>
              <a:rPr dirty="0"/>
            </a:br>
            <a:r>
              <a:rPr dirty="0"/>
              <a:t>Identify Fine-Grained Customer Emotions?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76495" cy="38100"/>
          </a:xfrm>
          <a:prstGeom prst="rect">
            <a:avLst/>
          </a:prstGeom>
          <a:solidFill>
            <a:srgbClr val="5B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1F44"/>
                </a:solidFill>
                <a:latin typeface="Calibri"/>
              </a:defRPr>
            </a:pPr>
            <a:r>
              <a:t>MSIN0221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10527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UCL School of Management  |  2025/26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C0C6A-9C4B-7110-DF49-191D6D62018C}"/>
              </a:ext>
            </a:extLst>
          </p:cNvPr>
          <p:cNvSpPr txBox="1"/>
          <p:nvPr/>
        </p:nvSpPr>
        <p:spPr>
          <a:xfrm>
            <a:off x="929640" y="5568761"/>
            <a:ext cx="10332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4A5A75"/>
                </a:solidFill>
                <a:latin typeface="Calibri"/>
              </a:defRPr>
            </a:pPr>
            <a:r>
              <a:rPr lang="en-US" dirty="0"/>
              <a:t>Team members:</a:t>
            </a:r>
          </a:p>
          <a:p>
            <a:pPr algn="ctr">
              <a:defRPr sz="1600" b="0" i="0">
                <a:solidFill>
                  <a:srgbClr val="4A5A75"/>
                </a:solidFill>
                <a:latin typeface="Calibri"/>
              </a:defRPr>
            </a:pPr>
            <a:r>
              <a:rPr lang="en-US" sz="1600" dirty="0"/>
              <a:t>Leya Sherman, Marcus Hudson, Majid Ahmadi Moghaddam, Pablo Williams, Salman Khalid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Customer support interactions are fundamentally emotional exchanges. The ability to</a:t>
            </a:r>
            <a:br/>
            <a:r>
              <a:t>automatically detect specific emotions could enable smarter, faster, more empathetic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A1F44"/>
                </a:solidFill>
                <a:latin typeface="Calibri"/>
              </a:defRPr>
            </a:pPr>
            <a:r>
              <a:t>What This Study Investigates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Fine-tuned BERT-base-uncased on GoEmotions (58,000 Reddit comments, 28 emotion categories)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Evaluated cross-domain transfer to real Twitter customer support messages (500 manually annotated)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Compared against a TF-IDF Logistic Regression baseline to isolate architecture vs. domain effects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 Analysed systematic error patterns and proposed actionable recommendations for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1F44"/>
                </a:solidFill>
                <a:latin typeface="Calibri"/>
              </a:defRPr>
            </a:pPr>
            <a:r>
              <a:t>Key Numbers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201168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0.566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BERT Weighted F1</a:t>
            </a:r>
            <a:br>
              <a:rPr dirty="0"/>
            </a:br>
            <a:r>
              <a:rPr dirty="0"/>
              <a:t>(In-Domain)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5212080"/>
            <a:ext cx="201168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-25.5pp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Transfer Gap</a:t>
            </a:r>
            <a:br/>
            <a:r>
              <a:t>(POOR)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5212080"/>
            <a:ext cx="201168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43C6E"/>
                </a:solidFill>
                <a:latin typeface="Calibri"/>
              </a:defRPr>
            </a:pPr>
            <a:r>
              <a:t>62.6%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Cross-Domain</a:t>
            </a:r>
            <a:br/>
            <a:r>
              <a:t>Error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212080"/>
            <a:ext cx="201168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43C6E"/>
                </a:solidFill>
                <a:latin typeface="Calibri"/>
              </a:defRPr>
            </a:pPr>
            <a:r>
              <a:t>κ = 0.733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Annotation</a:t>
            </a:r>
            <a:br/>
            <a:r>
              <a:t>Agreement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5212080"/>
            <a:ext cx="2011680" cy="10058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43C6E"/>
                </a:solidFill>
                <a:latin typeface="Calibri"/>
              </a:defRPr>
            </a:pPr>
            <a:r>
              <a:t>+17.3pp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5715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Grouped Label</a:t>
            </a:r>
            <a:br/>
            <a:r>
              <a:t>Improvement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5B6C17-B0AC-1762-1692-73327F0220D9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The Business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4754880" cy="182880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9234" y="1903315"/>
            <a:ext cx="401997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43C6E"/>
                </a:solidFill>
                <a:latin typeface="Calibri"/>
              </a:defRPr>
            </a:pPr>
            <a:r>
              <a:rPr dirty="0"/>
              <a:t>"Customer support interactions</a:t>
            </a:r>
            <a:br>
              <a:rPr dirty="0"/>
            </a:br>
            <a:r>
              <a:rPr dirty="0"/>
              <a:t>are fundamentally emotional</a:t>
            </a:r>
            <a:br>
              <a:rPr dirty="0"/>
            </a:br>
            <a:r>
              <a:rPr dirty="0"/>
              <a:t>exchanges"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554480"/>
            <a:ext cx="5943600" cy="5943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0" y="1600200"/>
            <a:ext cx="50800" cy="5029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600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A1F44"/>
                </a:solidFill>
                <a:latin typeface="Calibri"/>
              </a:defRPr>
            </a:pPr>
            <a:r>
              <a:t>Current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Crude positive / negative / neutral classification or keyword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240280"/>
            <a:ext cx="5943600" cy="5943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0" y="2286000"/>
            <a:ext cx="50800" cy="502920"/>
          </a:xfrm>
          <a:prstGeom prst="rect">
            <a:avLst/>
          </a:prstGeom>
          <a:solidFill>
            <a:srgbClr val="1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CA8"/>
                </a:solidFill>
                <a:latin typeface="Calibri"/>
              </a:defRPr>
            </a:pPr>
            <a: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Smart ticket routing, personalised responses, pre-emptive escalation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926080"/>
            <a:ext cx="5943600" cy="5943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2971800"/>
            <a:ext cx="50800" cy="5029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DE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alibri"/>
              </a:defRPr>
            </a:pPr>
            <a:r>
              <a:t>Customer emotions strongly predict service quality perceptions (Mattila &amp; Enz, 2002)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11064240" cy="64008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03509"/>
            <a:ext cx="10515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Research Gap: NLP models trained on general social media text may not transfer to professional service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1F44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Most deployed systems miss the nuance that determines whether a ticket needs urgent escalation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Annoyance and anger together account for over 40% of customer emotions in support contexts</a:t>
            </a:r>
          </a:p>
          <a:p>
            <a:pPr>
              <a:spcAft>
                <a:spcPts val="8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Misclassifying frustrated customers can actively worsen their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776ECB-1FC5-ED0F-5B1C-98E082DAFA41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Research Question &amp;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17050"/>
            <a:ext cx="11064240" cy="914400"/>
          </a:xfrm>
          <a:prstGeom prst="roundRect">
            <a:avLst/>
          </a:prstGeom>
          <a:solidFill>
            <a:srgbClr val="F0F4FA"/>
          </a:solidFill>
          <a:ln w="254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0849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A1F44"/>
                </a:solidFill>
                <a:latin typeface="Calibri"/>
              </a:defRPr>
            </a:pPr>
            <a:r>
              <a:t>How reliably can an NLP model trained on social media emotions identify</a:t>
            </a:r>
            <a:br/>
            <a:r>
              <a:t>fine-grained emotions in customer support messages?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A1F44"/>
                </a:solidFill>
                <a:latin typeface="Calibri"/>
              </a:defRPr>
            </a:pPr>
            <a:r>
              <a:t>Experimental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47640"/>
            <a:ext cx="1965960" cy="14630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591584"/>
            <a:ext cx="1783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rPr dirty="0" err="1"/>
              <a:t>GoEmotions</a:t>
            </a:r>
            <a:br>
              <a:rPr dirty="0"/>
            </a:br>
            <a:r>
              <a:rPr dirty="0"/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9249"/>
            <a:ext cx="17830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Reddit, 58K comments</a:t>
            </a:r>
            <a:br>
              <a:rPr dirty="0"/>
            </a:br>
            <a:r>
              <a:rPr dirty="0"/>
              <a:t>28 emotion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904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1E5C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447640"/>
            <a:ext cx="1965960" cy="14630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3574650"/>
            <a:ext cx="1783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BERT-base</a:t>
            </a:r>
            <a:br>
              <a:rPr dirty="0"/>
            </a:br>
            <a:r>
              <a:rPr dirty="0"/>
              <a:t>-uncased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92315"/>
            <a:ext cx="17830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Fine-tuned, 3 epochs</a:t>
            </a:r>
            <a:br>
              <a:rPr dirty="0"/>
            </a:br>
            <a:r>
              <a:rPr dirty="0" err="1"/>
              <a:t>lr</a:t>
            </a:r>
            <a:r>
              <a:rPr dirty="0"/>
              <a:t>=2x10⁻⁵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04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1E5C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447640"/>
            <a:ext cx="1965960" cy="14630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574650"/>
            <a:ext cx="1783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5CA8"/>
                </a:solidFill>
                <a:latin typeface="Calibri"/>
              </a:defRPr>
            </a:pPr>
            <a:r>
              <a:t>TF-IDF LR</a:t>
            </a:r>
            <a:br/>
            <a: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92315"/>
            <a:ext cx="17830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Unigrams + bigrams</a:t>
            </a:r>
            <a:br/>
            <a:r>
              <a:t>20K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04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1E5C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447640"/>
            <a:ext cx="1965960" cy="14630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3574650"/>
            <a:ext cx="1783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2E86DE"/>
                </a:solidFill>
                <a:latin typeface="Calibri"/>
              </a:defRPr>
            </a:pPr>
            <a:r>
              <a:t>Twitter CS</a:t>
            </a:r>
            <a:br/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192315"/>
            <a:ext cx="17830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10K sampled</a:t>
            </a:r>
            <a:br/>
            <a:r>
              <a:t>500 annotated, κ=0.733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904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1E5C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447640"/>
            <a:ext cx="1965960" cy="14630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5BA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3574650"/>
            <a:ext cx="17830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5BA8F0"/>
                </a:solidFill>
                <a:latin typeface="Calibri"/>
              </a:defRPr>
            </a:pPr>
            <a:r>
              <a:t>In-Domain vs</a:t>
            </a:r>
            <a:br/>
            <a:r>
              <a:t>Cross-Domain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192315"/>
            <a:ext cx="17830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Transfer gap</a:t>
            </a:r>
            <a:br/>
            <a:r>
              <a:t>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88208"/>
            <a:ext cx="3657600" cy="457200"/>
          </a:xfrm>
          <a:prstGeom prst="roundRect">
            <a:avLst/>
          </a:prstGeom>
          <a:solidFill>
            <a:srgbClr val="D0E4F7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470614"/>
            <a:ext cx="32918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43C6E"/>
                </a:solidFill>
                <a:latin typeface="Calibri"/>
              </a:defRPr>
            </a:pPr>
            <a:r>
              <a:t>DUAL MODEL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70586"/>
            <a:ext cx="68580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Two models run in parallel to isolate whether observed transfer degradation</a:t>
            </a:r>
            <a:br>
              <a:rPr dirty="0"/>
            </a:br>
            <a:r>
              <a:rPr dirty="0"/>
              <a:t>is specific to contextual models or reflects a more fundamental domain incompatibility.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79BFDD-2A1A-725F-C402-0284F7D7A387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Data &amp; Annotation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A1F44"/>
                </a:solidFill>
                <a:latin typeface="Calibri"/>
              </a:defRPr>
            </a:pPr>
            <a:r>
              <a:t>GoEmotions (Training)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Source: Reddit comments (</a:t>
            </a:r>
            <a:r>
              <a:rPr dirty="0" err="1"/>
              <a:t>HuggingFace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Total: 58,000 comments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28 emotion categories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Avg. ~20 words per comment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Register: Informal, expressive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•  86% carry only a single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94960" cy="237744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E86DE"/>
                </a:solidFill>
                <a:latin typeface="Calibri"/>
              </a:defRPr>
            </a:pPr>
            <a:r>
              <a:t>Twitter Customer Support (Evaluation)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Source: Kaggle ThoughtVector (2017)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1,537,843 filtered tweets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10,000 sampled; 500 annotated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Avg. ~10 words per tweet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Register: Task-focused, restrained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 No pre-existing emotion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248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A1F44"/>
                </a:solidFill>
                <a:latin typeface="Calibri"/>
              </a:defRPr>
            </a:pPr>
            <a:r>
              <a:t>Annotation 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82071"/>
            <a:ext cx="3474720" cy="118872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277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43C6E"/>
                </a:solidFill>
                <a:latin typeface="Calibri"/>
              </a:defRPr>
            </a:pPr>
            <a:r>
              <a:t>κ = 0.733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392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1F44"/>
                </a:solidFill>
                <a:latin typeface="Calibri"/>
              </a:defRPr>
            </a:pPr>
            <a:r>
              <a:t>Inter-annotator Kappa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135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Substantial agreement (Landis &amp; Koch, 1977)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682071"/>
            <a:ext cx="3474720" cy="118872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47277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43C6E"/>
                </a:solidFill>
                <a:latin typeface="Calibri"/>
              </a:defRPr>
            </a:pPr>
            <a:r>
              <a:t>77.4%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392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1F44"/>
                </a:solidFill>
                <a:latin typeface="Calibri"/>
              </a:defRPr>
            </a:pPr>
            <a:r>
              <a:t>Raw Agreement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4135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On 500 annotated tweets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682071"/>
            <a:ext cx="3474720" cy="118872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472779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43C6E"/>
                </a:solidFill>
                <a:latin typeface="Calibri"/>
              </a:defRPr>
            </a:pPr>
            <a:r>
              <a:t>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1392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A1F44"/>
                </a:solidFill>
                <a:latin typeface="Calibri"/>
              </a:defRPr>
            </a:pPr>
            <a:r>
              <a:t>Single-Label Instances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4135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A5A75"/>
                </a:solidFill>
                <a:latin typeface="Calibri"/>
              </a:defRPr>
            </a:pPr>
            <a:r>
              <a:t>Mitigates label ordering bias in GoEmotions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A203B9-45FF-6F89-268B-64D21358266D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06/15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BERT Training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424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A1F44"/>
                </a:solidFill>
                <a:latin typeface="Calibri"/>
              </a:defRPr>
            </a:pPr>
            <a:r>
              <a:rPr dirty="0"/>
              <a:t>Validation Metrics Across Epochs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8288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8288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1681912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E5CA8"/>
                </a:solidFill>
                <a:latin typeface="Calibri"/>
              </a:defRPr>
            </a:pPr>
            <a:r>
              <a:rPr dirty="0"/>
              <a:t>Validation Metrics by Epoch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E5CA8"/>
                </a:solidFill>
                <a:latin typeface="Calibri"/>
              </a:defRPr>
            </a:pPr>
            <a:r>
              <a:rPr dirty="0"/>
              <a:t>Training &amp; Validation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69507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rPr sz="1500" dirty="0"/>
              <a:t>Key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5474"/>
            <a:ext cx="10972800" cy="943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Largest improvement between epoch 1 and 2: macro F1 increased from 0.363 to 0.436 (+7.3pp)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Epoch 3 showed marginal gains (+0.9pp) with narrowing train/</a:t>
            </a:r>
            <a:r>
              <a:rPr sz="1400" dirty="0" err="1"/>
              <a:t>val</a:t>
            </a:r>
            <a:r>
              <a:rPr sz="1400" dirty="0"/>
              <a:t> loss gap, confirming 3 epochs is appropriate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Best checkpoint selected at epoch 3 (weighted F1: 0.571)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62C711-37E7-BB75-9BEF-C47366A0BB4F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07/15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In-Domain Performance (GoEmotions Test Set)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9144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A1F44"/>
                </a:solidFill>
                <a:latin typeface="Calibri"/>
              </a:defRPr>
            </a:pPr>
            <a:r>
              <a:t>0.566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75"/>
                </a:solidFill>
                <a:latin typeface="Calibri"/>
              </a:defRPr>
            </a:pPr>
            <a:r>
              <a:t>BERT Weighted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651760" cy="9144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43C6E"/>
                </a:solidFill>
                <a:latin typeface="Calibri"/>
              </a:defRPr>
            </a:pPr>
            <a:r>
              <a:t>0.434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75"/>
                </a:solidFill>
                <a:latin typeface="Calibri"/>
              </a:defRPr>
            </a:pPr>
            <a:r>
              <a:t>BERT 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2651760" cy="9144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E5CA8"/>
                </a:solidFill>
                <a:latin typeface="Calibri"/>
              </a:defRPr>
            </a:pPr>
            <a:r>
              <a:t>0.446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75"/>
                </a:solidFill>
                <a:latin typeface="Calibri"/>
              </a:defRPr>
            </a:pPr>
            <a:r>
              <a:t>TF-IDF Weighted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651760" cy="9144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2E86DE"/>
                </a:solidFill>
                <a:latin typeface="Calibri"/>
              </a:defRPr>
            </a:pPr>
            <a:r>
              <a:t>0.585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A75"/>
                </a:solidFill>
                <a:latin typeface="Calibri"/>
              </a:defRPr>
            </a:pPr>
            <a:r>
              <a:t>BERT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A1F44"/>
                </a:solidFill>
                <a:latin typeface="Calibri"/>
              </a:defRPr>
            </a:pPr>
            <a:r>
              <a:t>Per-Emotion BERT F1 Scores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2971800"/>
          <a:ext cx="11064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EAFC45-8BCB-84C2-7987-5E0F03A724C8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08/15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Cross-Domain Transfer: The Core Finding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1F44"/>
                </a:solidFill>
                <a:latin typeface="Calibri"/>
              </a:defRPr>
            </a:pPr>
            <a:r>
              <a:t>Transfer Gap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9222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-25.5pp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5A75"/>
                </a:solidFill>
                <a:latin typeface="Calibri"/>
              </a:defRPr>
            </a:pPr>
            <a:r>
              <a:t>BERT weighted F1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5292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1E5CA8"/>
                </a:solidFill>
                <a:latin typeface="Calibri"/>
              </a:defRPr>
            </a:pPr>
            <a:r>
              <a:rPr dirty="0"/>
              <a:t>-26.0pp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49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TF-IDF weighted F1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056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A1F44"/>
                </a:solidFill>
                <a:latin typeface="Calibri"/>
              </a:defRPr>
            </a:pPr>
            <a:r>
              <a:rPr dirty="0"/>
              <a:t>Transfer Thresholds: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379976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A5A75"/>
                </a:solidFill>
                <a:latin typeface="Calibri"/>
              </a:defRPr>
            </a:pPr>
            <a:r>
              <a:rPr dirty="0"/>
              <a:t>≤10%: Strong transfer</a:t>
            </a:r>
          </a:p>
          <a:p>
            <a:pPr>
              <a:spcAft>
                <a:spcPts val="800"/>
              </a:spcAft>
              <a:defRPr sz="1200">
                <a:solidFill>
                  <a:srgbClr val="4A5A75"/>
                </a:solidFill>
                <a:latin typeface="Calibri"/>
              </a:defRPr>
            </a:pPr>
            <a:r>
              <a:rPr dirty="0"/>
              <a:t>10 to 20%: Moderate</a:t>
            </a:r>
          </a:p>
          <a:p>
            <a:pPr>
              <a:spcAft>
                <a:spcPts val="800"/>
              </a:spcAft>
              <a:defRPr sz="1200">
                <a:solidFill>
                  <a:srgbClr val="4A5A75"/>
                </a:solidFill>
                <a:latin typeface="Calibri"/>
              </a:defRPr>
            </a:pPr>
            <a:r>
              <a:rPr dirty="0"/>
              <a:t>&gt;20%: POOR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11064240" cy="731520"/>
          </a:xfrm>
          <a:prstGeom prst="roundRect">
            <a:avLst/>
          </a:prstGeom>
          <a:solidFill>
            <a:srgbClr val="F0F4FA"/>
          </a:solidFill>
          <a:ln w="254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599137"/>
            <a:ext cx="10515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Both models show near-identical gaps (~25-26pp). Architecture does not explain the failure. Domain mismatch is the bottleneck.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8FA1A3-C362-9E09-EBF0-6299230E67ED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09/15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Per-Emotion Transfer: Where It Breaks Down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1168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rPr sz="1500"/>
              <a:t>Key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63825"/>
            <a:ext cx="10515600" cy="943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Gratitude transfers best (0.85 to 0.58): "thank you" and "thanks" work the same way across domains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Annoyance, the most common customer emotion (30.4%), drops from 0.52 to just 0.14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▸  Disappointment nearly vanishes (0.40 to 0.03): customers express it indirectly in support contexts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A3F92-660C-470C-4BED-A9EBE9E3373F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10/15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Emotion Distribution in Customer Support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11064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16352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rPr sz="1500" dirty="0"/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97680"/>
            <a:ext cx="10515600" cy="943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/>
              <a:t>▸  Annoyance dominates at 30.4% of all annotations, followed by neutral (21.6%) and anger (10.0%)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/>
              <a:t>▸  Negative emotions collectively account for over 62% of customer support interactions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rPr sz="1400"/>
              <a:t>▸  The single most important emotion for service routing (annoyance) is also the hardest to transfer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13B10-61AE-193C-9149-DEB5416388DE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11/15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Error Analysis: Where &amp; Why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 i="0">
                <a:solidFill>
                  <a:srgbClr val="0A1F44"/>
                </a:solidFill>
                <a:latin typeface="Calibri"/>
              </a:defRPr>
            </a:pPr>
            <a:r>
              <a:t>313 /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579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4A5A75"/>
                </a:solidFill>
                <a:latin typeface="Calibri"/>
              </a:defRPr>
            </a:pPr>
            <a:r>
              <a:rPr dirty="0"/>
              <a:t>tweets misclassified (62.6%) vs 41.5% in-domain error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A1F44"/>
                </a:solidFill>
                <a:latin typeface="Calibri"/>
              </a:defRPr>
            </a:pPr>
            <a:r>
              <a:t>Systematic Failure Modes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03520" cy="4572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0800" cy="3657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16181"/>
            <a:ext cx="1645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0A1F44"/>
                </a:solidFill>
                <a:latin typeface="Calibri"/>
              </a:defRPr>
            </a:pPr>
            <a:r>
              <a:t>Polite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6755"/>
            <a:ext cx="4754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"Thanks, but..." triggers gratitude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303520" cy="4572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0800" cy="36576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64821"/>
            <a:ext cx="1645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Indirect Emotion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55395"/>
            <a:ext cx="4754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Event description without affective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5303520" cy="4572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50800" cy="365760"/>
          </a:xfrm>
          <a:prstGeom prst="rect">
            <a:avLst/>
          </a:prstGeom>
          <a:solidFill>
            <a:srgbClr val="1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13461"/>
            <a:ext cx="1645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E5CA8"/>
                </a:solidFill>
                <a:latin typeface="Calibri"/>
              </a:defRPr>
            </a:pPr>
            <a:r>
              <a:t>Lexical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04035"/>
            <a:ext cx="47548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Semantic overlap between emotion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5303520" cy="914400"/>
          </a:xfrm>
          <a:prstGeom prst="roundRect">
            <a:avLst/>
          </a:prstGeom>
          <a:solidFill>
            <a:srgbClr val="F0F4FA"/>
          </a:solidFill>
          <a:ln w="254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t>THE RELIEF ANOMALY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rPr dirty="0"/>
              <a:t>93 annoyance tweets predicted as relief</a:t>
            </a:r>
            <a:br>
              <a:rPr dirty="0"/>
            </a:br>
            <a:r>
              <a:rPr dirty="0"/>
              <a:t>n=96 training examples, in-domain F1 = 0.00</a:t>
            </a:r>
            <a:br>
              <a:rPr dirty="0"/>
            </a:br>
            <a:r>
              <a:rPr dirty="0"/>
              <a:t>Model over-activates the worst-learned class under domain uncertainty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A1F44"/>
                </a:solidFill>
                <a:latin typeface="Calibri"/>
              </a:defRPr>
            </a:pPr>
            <a:r>
              <a:t>Qualitative Examples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828800"/>
            <a:ext cx="5486400" cy="11887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9019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"Thanks, but it's been nearly 48 hours..."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86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A1F44"/>
                </a:solidFill>
                <a:latin typeface="Calibri"/>
              </a:defRPr>
            </a:pPr>
            <a:r>
              <a:t>True: Annoyance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286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86DE"/>
                </a:solidFill>
                <a:latin typeface="Calibri"/>
              </a:defRPr>
            </a:pPr>
            <a:r>
              <a:t>Predicted: Gratitude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A5"/>
                </a:solidFill>
                <a:latin typeface="Calibri"/>
              </a:defRPr>
            </a:pPr>
            <a:r>
              <a:t>Failure Mode: Polite Framing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154680"/>
            <a:ext cx="5486400" cy="11887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2278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"It's going to cost me £42 to return this faulty item."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A1F44"/>
                </a:solidFill>
                <a:latin typeface="Calibri"/>
              </a:defRPr>
            </a:pPr>
            <a:r>
              <a:t>True: Annoyance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86DE"/>
                </a:solidFill>
                <a:latin typeface="Calibri"/>
              </a:defRPr>
            </a:pPr>
            <a:r>
              <a:t>Predicted: Curiosity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86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A5"/>
                </a:solidFill>
                <a:latin typeface="Calibri"/>
              </a:defRPr>
            </a:pPr>
            <a:r>
              <a:t>Failure Mode: Indirect Emotion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480560"/>
            <a:ext cx="5486400" cy="11887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5537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"I can't download any apps, free or otherwise."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A1F44"/>
                </a:solidFill>
                <a:latin typeface="Calibri"/>
              </a:defRPr>
            </a:pPr>
            <a:r>
              <a:t>True: Annoyance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937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86DE"/>
                </a:solidFill>
                <a:latin typeface="Calibri"/>
              </a:defRPr>
            </a:pPr>
            <a:r>
              <a:t>Predicted: Neutral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8AA5"/>
                </a:solidFill>
                <a:latin typeface="Calibri"/>
              </a:defRPr>
            </a:pPr>
            <a:r>
              <a:t>Failure Mode: Event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74DCB-8963-EA42-BFA7-4CBC2A530D90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12/15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Top Misclassification Pairs on Twitter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0" y="1964995"/>
            <a:ext cx="3200400" cy="2214880"/>
          </a:xfrm>
          <a:prstGeom prst="roundRect">
            <a:avLst/>
          </a:prstGeom>
          <a:solidFill>
            <a:srgbClr val="F0F4FA"/>
          </a:solidFill>
          <a:ln w="254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205643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A1F44"/>
                </a:solidFill>
                <a:latin typeface="Calibri"/>
              </a:defRPr>
            </a:pPr>
            <a:r>
              <a:t>Relief Dominance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02995"/>
            <a:ext cx="2834640" cy="178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rPr sz="1100" dirty="0"/>
              <a:t>8 of the top 12 error pairs</a:t>
            </a:r>
            <a:br>
              <a:rPr sz="1100" dirty="0"/>
            </a:br>
            <a:r>
              <a:rPr sz="1100" dirty="0"/>
              <a:t>involve relief as the</a:t>
            </a:r>
            <a:br>
              <a:rPr sz="1100" dirty="0"/>
            </a:br>
            <a:r>
              <a:rPr sz="1100" dirty="0"/>
              <a:t>predicted label.</a:t>
            </a:r>
            <a:br>
              <a:rPr sz="1100" dirty="0"/>
            </a:br>
            <a:br>
              <a:rPr sz="1100" dirty="0"/>
            </a:br>
            <a:r>
              <a:rPr sz="1100" dirty="0"/>
              <a:t>Relief has only 96 training</a:t>
            </a:r>
            <a:br>
              <a:rPr sz="1100" dirty="0"/>
            </a:br>
            <a:r>
              <a:rPr sz="1100" dirty="0"/>
              <a:t>examples and F1 = 0.00</a:t>
            </a:r>
            <a:br>
              <a:rPr sz="1100" dirty="0"/>
            </a:br>
            <a:r>
              <a:rPr sz="1100" dirty="0"/>
              <a:t>in-domain. Under domain</a:t>
            </a:r>
            <a:br>
              <a:rPr sz="1100" dirty="0"/>
            </a:br>
            <a:r>
              <a:rPr sz="1100" dirty="0"/>
              <a:t>uncertainty, the model</a:t>
            </a:r>
            <a:br>
              <a:rPr sz="1100" dirty="0"/>
            </a:br>
            <a:r>
              <a:rPr sz="1100" dirty="0"/>
              <a:t>defaults to this poorly</a:t>
            </a:r>
            <a:br>
              <a:rPr sz="1100" dirty="0"/>
            </a:br>
            <a:r>
              <a:rPr sz="1100" dirty="0"/>
              <a:t>learned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250995"/>
            <a:ext cx="3200400" cy="12750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434243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A1F44"/>
                </a:solidFill>
                <a:latin typeface="Calibri"/>
              </a:defRPr>
            </a:pPr>
            <a:r>
              <a:t>Annoyance is the Victim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4656163"/>
            <a:ext cx="283464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Calibri"/>
              </a:defRPr>
            </a:pPr>
            <a:r>
              <a:rPr dirty="0"/>
              <a:t>93 + 24 = 117 annoyance</a:t>
            </a:r>
            <a:br>
              <a:rPr dirty="0"/>
            </a:br>
            <a:r>
              <a:rPr dirty="0"/>
              <a:t>tweets misrouted.</a:t>
            </a:r>
            <a:br>
              <a:rPr dirty="0"/>
            </a:br>
            <a:r>
              <a:rPr dirty="0"/>
              <a:t>That is 77% of all</a:t>
            </a:r>
            <a:br>
              <a:rPr dirty="0"/>
            </a:br>
            <a:r>
              <a:rPr dirty="0"/>
              <a:t>annoyance predictions wrong.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1376-A47D-544E-D058-5EB9BB549456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13/15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The Grouped Emotion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22960" y="1590943"/>
                <a:ext cx="10515600" cy="3385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1600" b="1" i="0">
                    <a:solidFill>
                      <a:srgbClr val="FFFFFF"/>
                    </a:solidFill>
                    <a:latin typeface="Calibri"/>
                  </a:defRPr>
                </a:pPr>
                <a:r>
                  <a:rPr dirty="0"/>
                  <a:t>28 fine-grained classes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3 groups (Negative / Positive / Ambiguous)     Weighted F1: 0.312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0.485  (+17.3pp)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90943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28600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A1F44"/>
                </a:solidFill>
                <a:latin typeface="Calibri"/>
              </a:defRPr>
            </a:pPr>
            <a:r>
              <a:t>Confusion Matrix (True x Predicted)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7875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Neg.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7875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t>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7875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t>Amb.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447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t>Negative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200400"/>
            <a:ext cx="1097280" cy="411480"/>
          </a:xfrm>
          <a:prstGeom prst="roundRect">
            <a:avLst/>
          </a:prstGeom>
          <a:solidFill>
            <a:srgbClr val="D0E4F7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186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43C6E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200400"/>
            <a:ext cx="1097280" cy="4114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32186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80" y="3200400"/>
            <a:ext cx="1097280" cy="411480"/>
          </a:xfrm>
          <a:prstGeom prst="roundRect">
            <a:avLst/>
          </a:prstGeom>
          <a:solidFill>
            <a:srgbClr val="E3EDF7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32186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43C6E"/>
                </a:solidFill>
                <a:latin typeface="Calibri"/>
              </a:defRPr>
            </a:pPr>
            <a:r>
              <a:t>169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019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t>Positive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657600"/>
            <a:ext cx="1097280" cy="4114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6758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657600"/>
            <a:ext cx="1097280" cy="411480"/>
          </a:xfrm>
          <a:prstGeom prst="roundRect">
            <a:avLst/>
          </a:prstGeom>
          <a:solidFill>
            <a:srgbClr val="D0E4F7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36758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43C6E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98480" y="3657600"/>
            <a:ext cx="1097280" cy="4114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36758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59180"/>
            <a:ext cx="1097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43C6E"/>
                </a:solidFill>
                <a:latin typeface="Calibri"/>
              </a:defRPr>
            </a:pPr>
            <a:r>
              <a:t>Ambiguous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114800"/>
            <a:ext cx="1097280" cy="4114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1330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4114800"/>
            <a:ext cx="1097280" cy="41148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1330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98480" y="4114800"/>
            <a:ext cx="1097280" cy="411480"/>
          </a:xfrm>
          <a:prstGeom prst="roundRect">
            <a:avLst/>
          </a:prstGeom>
          <a:solidFill>
            <a:srgbClr val="D0E4F7"/>
          </a:solidFill>
          <a:ln w="12700">
            <a:solidFill>
              <a:srgbClr val="D0E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0" y="413308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43C6E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1106424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789711"/>
            <a:ext cx="10515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43C6E"/>
                </a:solidFill>
                <a:latin typeface="Calibri"/>
              </a:defRPr>
            </a:pPr>
            <a:r>
              <a:rPr dirty="0"/>
              <a:t>The model is nearly always correct when it flags negative (0.90 precision) but misses 76% of truly negative tweets (0.24 recall)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90A2D-48A9-3E22-8B52-5461FAB1A01D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14/15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Three Actionable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4173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63500" cy="132588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90000"/>
            <a:ext cx="9144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 i="0">
                <a:solidFill>
                  <a:srgbClr val="0A1F44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87752"/>
            <a:ext cx="9509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0A1F44"/>
                </a:solidFill>
                <a:latin typeface="Calibri"/>
              </a:defRPr>
            </a:pPr>
            <a:r>
              <a:rPr dirty="0"/>
              <a:t>Do NOT deploy fine-grained emotion labels without domain adaptation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18771"/>
            <a:ext cx="950976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rPr dirty="0"/>
              <a:t>The relief anomaly shows uncalibrated predictions can actively undermine customer experience, routing frustrated customers away from escalation.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11064240" cy="14173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63500" cy="132588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90200"/>
            <a:ext cx="9144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 i="0">
                <a:solidFill>
                  <a:srgbClr val="143C6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87952"/>
            <a:ext cx="9509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0A1F44"/>
                </a:solidFill>
                <a:latin typeface="Calibri"/>
              </a:defRPr>
            </a:pPr>
            <a:r>
              <a:t>Use grouped labels (Negative / Positive / Ambiguous) as a first-pass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18971"/>
            <a:ext cx="950976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0.90 precision for negative emotions means confident flagging. Route high-confidence negative messages to senior agents. Annoyance accounts for 30.4% of all customer emotions.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64240" cy="141732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63500" cy="1325880"/>
          </a:xfrm>
          <a:prstGeom prst="rect">
            <a:avLst/>
          </a:prstGeom>
          <a:solidFill>
            <a:srgbClr val="1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90400"/>
            <a:ext cx="91440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 i="0">
                <a:solidFill>
                  <a:srgbClr val="1E5CA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88152"/>
            <a:ext cx="9509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 i="0">
                <a:solidFill>
                  <a:srgbClr val="0A1F44"/>
                </a:solidFill>
                <a:latin typeface="Calibri"/>
              </a:defRPr>
            </a:pPr>
            <a:r>
              <a:t>Collect 500+ in-domain labelled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19171"/>
            <a:ext cx="950976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The annotation process demonstrated that 500 tweets can be labelled with κ=0.733 following clear guidelines. Domain mismatch, not model size, is the core constraint.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BF9829-92B1-6D12-BD06-C18E049F2F0C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8AA5"/>
                </a:solidFill>
                <a:latin typeface="Consolas"/>
              </a:defRPr>
            </a:pPr>
            <a:r>
              <a:t>15/15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E5CA8"/>
                </a:solidFill>
                <a:latin typeface="Calibri"/>
              </a:defRPr>
            </a:pPr>
            <a:r>
              <a:t>MSIN0221  |  UCL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A1F44"/>
                </a:solidFill>
                <a:latin typeface="Calibri"/>
              </a:defRPr>
            </a:pPr>
            <a:r>
              <a:t>Conclusions &amp;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943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1">
                <a:solidFill>
                  <a:srgbClr val="143C6E"/>
                </a:solidFill>
                <a:latin typeface="Calibri"/>
              </a:defRPr>
            </a:pPr>
            <a:r>
              <a:rPr dirty="0"/>
              <a:t>"The answer is: only partially"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A1F44"/>
                </a:solidFill>
                <a:latin typeface="Calibri"/>
              </a:defRPr>
            </a:pPr>
            <a:r>
              <a:t>✓  BERT fine-tuned on GoEmotions: weighted F1 = 0.566 in-domain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A3D7A"/>
                </a:solidFill>
                <a:latin typeface="Calibri"/>
              </a:defRPr>
            </a:pPr>
            <a:r>
              <a:t>✗  Transfer to Twitter customer support: weighted F1 = 0.312 (-25.5pp, POOR)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5CA8"/>
                </a:solidFill>
                <a:latin typeface="Calibri"/>
              </a:defRPr>
            </a:pPr>
            <a:r>
              <a:t>■  Architecture does not matter. Domain mismatch is the fundamental bottleneck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5943600" cy="548640"/>
          </a:xfrm>
          <a:prstGeom prst="roundRect">
            <a:avLst/>
          </a:prstGeom>
          <a:solidFill>
            <a:srgbClr val="F0F4FA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46361"/>
            <a:ext cx="54864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A1F44"/>
                </a:solidFill>
                <a:latin typeface="Calibri"/>
              </a:defRPr>
            </a:pPr>
            <a:r>
              <a:rPr dirty="0"/>
              <a:t>Human emotional intelligence remains essential in customer service.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A1F44"/>
                </a:solidFill>
                <a:latin typeface="Calibri"/>
              </a:defRPr>
            </a:pPr>
            <a:r>
              <a:t>Future Work Roadmap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20240"/>
            <a:ext cx="5029200" cy="10515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0A1F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0" y="1965960"/>
            <a:ext cx="50800" cy="960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984358"/>
            <a:ext cx="45720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0A1F44"/>
                </a:solidFill>
                <a:latin typeface="Calibri"/>
              </a:defRPr>
            </a:pPr>
            <a:r>
              <a:t>Domain-Adaptive Pre-Training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67736"/>
            <a:ext cx="45720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Further unsupervised training on unlabelled customer support text</a:t>
            </a:r>
            <a:br/>
            <a:r>
              <a:t>(Gururangan et al., 2020). Expected to be most impactful.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154680"/>
            <a:ext cx="5029200" cy="10515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4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3200400"/>
            <a:ext cx="50800" cy="96012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3218798"/>
            <a:ext cx="45720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43C6E"/>
                </a:solidFill>
                <a:latin typeface="Calibri"/>
              </a:defRPr>
            </a:pPr>
            <a:r>
              <a:t>Multi-Label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02176"/>
            <a:ext cx="45720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Model co-occurring emotions rather than forcing a single</a:t>
            </a:r>
            <a:br/>
            <a:r>
              <a:t>dominant label. Reduces label ordering bias.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389120"/>
            <a:ext cx="5029200" cy="105156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1E5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0" y="4434840"/>
            <a:ext cx="50800" cy="960120"/>
          </a:xfrm>
          <a:prstGeom prst="rect">
            <a:avLst/>
          </a:prstGeom>
          <a:solidFill>
            <a:srgbClr val="1E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453238"/>
            <a:ext cx="45720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E5CA8"/>
                </a:solidFill>
                <a:latin typeface="Calibri"/>
              </a:defRPr>
            </a:pPr>
            <a:r>
              <a:t>Psycholinguistic Feature Augmentation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836616"/>
            <a:ext cx="45720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4A5A75"/>
                </a:solidFill>
                <a:latin typeface="Calibri"/>
              </a:defRPr>
            </a:pPr>
            <a:r>
              <a:t>Add NRC Emotion Lexicon features to the transformer</a:t>
            </a:r>
            <a:br/>
            <a:r>
              <a:t>(Zanwar et al., 2022). Improves cross-corpus robustness.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42CC1-CD26-C696-6569-1408B48F3B8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D0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FEBED5-08B5-FF75-E1C0-A30578A11CCF}"/>
              </a:ext>
            </a:extLst>
          </p:cNvPr>
          <p:cNvSpPr txBox="1"/>
          <p:nvPr/>
        </p:nvSpPr>
        <p:spPr>
          <a:xfrm>
            <a:off x="457200" y="6543168"/>
            <a:ext cx="1127729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7A8AA5"/>
                </a:solidFill>
                <a:latin typeface="Calibri"/>
              </a:defRPr>
            </a:pPr>
            <a:r>
              <a:rPr dirty="0"/>
              <a:t>MSIN0221 Natural Language Processing  |  UCL School of Management  |  2025/26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1563</Words>
  <Application>Microsoft Office PowerPoint</Application>
  <PresentationFormat>Widescreen</PresentationFormat>
  <Paragraphs>235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Лея Шерман</dc:creator>
  <cp:keywords/>
  <dc:description>generated using python-pptx</dc:description>
  <cp:lastModifiedBy>Leya Sherman</cp:lastModifiedBy>
  <cp:revision>4</cp:revision>
  <dcterms:created xsi:type="dcterms:W3CDTF">2013-01-27T09:14:16Z</dcterms:created>
  <dcterms:modified xsi:type="dcterms:W3CDTF">2026-03-28T19:50:19Z</dcterms:modified>
  <cp:category/>
</cp:coreProperties>
</file>